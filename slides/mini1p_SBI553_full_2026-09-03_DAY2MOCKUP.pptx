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4" ContentType="video/unknown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F2937"/>
                </a:solidFill>
                <a:latin typeface="Calibri"/>
              </a:rPr>
              <a:t>Acute pain assay under mini1p imaging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C6E8C"/>
                </a:solidFill>
                <a:latin typeface="Calibri"/>
              </a:rPr>
              <a:t>Day 1 baseline, six mice  —  what the behaviour looks like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1C6E8C"/>
                </a:solidFill>
                <a:latin typeface="Calibri"/>
              </a:rPr>
              <a:t>before we add SBI-553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Hansol Lim   ·   2026-09-03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What this deck covers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four things to take 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Day 1 is real data, six mice, fully scored and QC'd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2140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all four stimulus blocks clean in all six sessions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700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Day 2 is a planned comparison, shown with synthetic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40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so the figures and the statistics are agreed before the experiment, not after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0273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Every measure is total event number / total stimulus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8678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never a raw count - the number of taps is not fixed, 16 to 31 for pin prick on Day 1 alone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35424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Statistics at two levels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91947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population: six mice, paired.  individual: each mouse's own ~90 deliveries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F2937"/>
                </a:solidFill>
                <a:latin typeface="Calibr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C6E8C"/>
                </a:solidFill>
                <a:latin typeface="Calibri"/>
              </a:rPr>
              <a:t>design, behaviours, and what the scoring actually captures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Session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5 min baseline, then four 5 min stimulus blocks on a fixed clock, 1 min rest between</a:t>
            </a:r>
          </a:p>
        </p:txBody>
      </p:sp>
      <p:pic>
        <p:nvPicPr>
          <p:cNvPr id="4" name="Picture 3" descr="F1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11338560" cy="28397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Block order is randomised per mouse, so stimulus identity is not confounded with time in the session.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Six behaviours, two classes - kept separate on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Corder / Scherrer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REFLEXIVE   paw withdrawal, flinch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2140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spinally mediated, locked to contact. Scored as taps, 3 s response window.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700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AFFECTIVE-MOTIVATIONAL   paw attending, licking / biting, guarding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40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supraspinal, builds over 1-8 s after contact. 10 s window.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0273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ESCAPE / REARING   scored, but read as exploration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8678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baseline rate is 3.8 per min and it DECREASES under stimulation. Not a pain measure.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35424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Never summed into one pain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91947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a biased agonist is expected to move the affective class without matching the reflexive one - summing would hide exactly that.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What the scoring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30 s, both cameras, labels burned in</a:t>
            </a:r>
          </a:p>
        </p:txBody>
      </p:sp>
      <p:pic>
        <p:nvPicPr>
          <p:cNvPr id="4" name="PPT_female3bottom0003_26_09_02_13_03_46_008__ppt_1216s_30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72586" y="1600200"/>
            <a:ext cx="6867707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click to play  ·  side view is the analysis view; the bottom view cannot resolve individual paws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Day 1 QC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nothing was inferred or filled in; every correction is traceable to the block clock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9272"/>
                <a:gridCol w="7744968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Sessions scored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6 of 6, all four stimulus blocks clean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Stimulus mis-keys resolved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18 of 18, using the fixed block clock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Fast repeated taps merged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corrected copy only, counts unchanged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Original scoring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never modified - corrections go to a separate folder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Deliveries per mouse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83 to 100 across the session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Remaining flags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2, informational only (typed vs sheet stimulus names)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F2937"/>
                </a:solidFill>
                <a:latin typeface="Calibri"/>
              </a:rPr>
              <a:t>Why  total event number / total stimulus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C6E8C"/>
                </a:solidFill>
                <a:latin typeface="Calibri"/>
              </a:rPr>
              <a:t>the one methodological point that everything else rests 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The denominator is not constant</a:t>
            </a:r>
          </a:p>
        </p:txBody>
      </p:sp>
      <p:pic>
        <p:nvPicPr>
          <p:cNvPr id="3" name="Picture 2" descr="D6_why_normalise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38776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Ten flinches from ten taps and ten flinches from twenty taps are the same raw count and a different animal - 10/10 = 1.00 vs 10/20 = 0.50. Every figure from here on divides by the delivery count.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F2937"/>
                </a:solidFill>
                <a:latin typeface="Calibri"/>
              </a:rPr>
              <a:t>How long is a stimulus block?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C6E8C"/>
                </a:solidFill>
                <a:latin typeface="Calibri"/>
              </a:rPr>
              <a:t>behaviour does not stop when the stimulus does, so the 1 min rest was tested both ways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Two block definitions, both computed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both versions are in the repository; the figures below use the 5 min version unless stated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5 min  -  the stimulus period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2140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the block's first delivery plus 300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700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6 min  -  the stimulus period plus the 1 min rest that follows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40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the rest is attributed to the block before it, because nothing else caused it and the next block has not started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0273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The denominator is identical in both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8678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the rest minute contains no deliveries, so total events / total stimulus delivery is directly comparable between the 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35424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events per MINUTE is not comparable between them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91947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the divisor changes 5 to 6, so that rate drops about 17 % mechanically even if nothing changed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The rest minute adds almost nothing - except rearing</a:t>
            </a:r>
          </a:p>
        </p:txBody>
      </p:sp>
      <p:pic>
        <p:nvPicPr>
          <p:cNvPr id="3" name="Picture 2" descr="W1_block_window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33672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Pain behaviours are flat (+0 to +2 %). Escape / rearing rises +5 % in every mouse - consistent with it being exploration that resumes once the stimulus stops, not pain.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Why the rest minute contributes so little</a:t>
            </a:r>
          </a:p>
        </p:txBody>
      </p:sp>
      <p:pic>
        <p:nvPicPr>
          <p:cNvPr id="3" name="Picture 2" descr="W2_rest_minute_con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30868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Because the 5 min window ALREADY contains a mean of 45 s of quiet time: deliveries finish before the 300 s mark (first-to-last span, median 256 s). The extra minute lands further out, where behaviour has already subsided.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F2937"/>
                </a:solidFill>
                <a:latin typeface="Calibri"/>
              </a:rPr>
              <a:t>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C6E8C"/>
                </a:solidFill>
                <a:latin typeface="Calibri"/>
              </a:rPr>
              <a:t>six mice, no drug - what the assay measures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Response by stimulus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rate per minute within each 5 min block</a:t>
            </a:r>
          </a:p>
        </p:txBody>
      </p:sp>
      <p:pic>
        <p:nvPicPr>
          <p:cNvPr id="4" name="Picture 3" descr="F2_dose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11338560" cy="45240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Light touch smallest and Heat largest for every behaviour; pin prick sits between them. Not monotonic with nominal intensity.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Raw event counts per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the unnormalised view, shown for completeness</a:t>
            </a:r>
          </a:p>
        </p:txBody>
      </p:sp>
      <p:pic>
        <p:nvPicPr>
          <p:cNvPr id="4" name="Picture 3" descr="F2b_event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11338560" cy="45240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Read with the previous slide in mind: the block is a fixed 300 s but the number of taps inside it is not.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Total event number / total stimulus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each mouse divided by its own delivery count</a:t>
            </a:r>
          </a:p>
        </p:txBody>
      </p:sp>
      <p:pic>
        <p:nvPicPr>
          <p:cNvPr id="4" name="Picture 3" descr="F3_per_deli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704" y="1417320"/>
            <a:ext cx="1133211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This is the comparable version of the previous slide.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Stimulus blocks against each animal's own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5 min baseline vs the four stimulus blocks</a:t>
            </a:r>
          </a:p>
        </p:txBody>
      </p:sp>
      <p:pic>
        <p:nvPicPr>
          <p:cNvPr id="4" name="Picture 3" descr="F4_baseline_vs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11338560" cy="41122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Escape / rearing goes DOWN under stimulation - the clearest evidence it is exploration rather than pain.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Every mouse individually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no averaging - one panel per animal</a:t>
            </a:r>
          </a:p>
        </p:txBody>
      </p:sp>
      <p:pic>
        <p:nvPicPr>
          <p:cNvPr id="4" name="Picture 3" descr="F5_per_m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11338560" cy="45240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Between-animal spread is large. It is the reason the paired design matters more than the group size.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Response time course around each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peri-stimulus histogram, aligned to stimulus contact</a:t>
            </a:r>
          </a:p>
        </p:txBody>
      </p:sp>
      <p:pic>
        <p:nvPicPr>
          <p:cNvPr id="4" name="Picture 3" descr="E1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823" y="1417320"/>
            <a:ext cx="10399872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Reflexes are locked to contact; affective behaviour builds over several seconds. This is what sets the two response windows.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Probability of responding to a single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10 s window, restricted to deliveries with 10 s of clearance</a:t>
            </a:r>
          </a:p>
        </p:txBody>
      </p:sp>
      <p:pic>
        <p:nvPicPr>
          <p:cNvPr id="4" name="Picture 3" descr="E2b_response_probability_10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81" y="1417320"/>
            <a:ext cx="10891956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A 3 s window put Heat BELOW light touch for attending - it cut the affective response off before it started. 10 s reverses that (0.600 vs 0.267).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Does the response fade within a block?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1 min bins across each 5 min stimulus block</a:t>
            </a:r>
          </a:p>
        </p:txBody>
      </p:sp>
      <p:pic>
        <p:nvPicPr>
          <p:cNvPr id="4" name="Picture 3" descr="E3_within_block_timecou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81" y="1417320"/>
            <a:ext cx="10891956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Worth watching on Day 2: a drug can lower the level or steepen the fade, and those are different mechanisms.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Control: block position does not drive 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response by position in the session, ignoring which stimulus it was</a:t>
            </a:r>
          </a:p>
        </p:txBody>
      </p:sp>
      <p:pic>
        <p:nvPicPr>
          <p:cNvPr id="4" name="Picture 3" descr="E4_block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11338560" cy="26047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Flat, which is what validates the randomised block order.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Reflexive against affective, per mouse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the two classes are not interchangeable</a:t>
            </a:r>
          </a:p>
        </p:txBody>
      </p:sp>
      <p:pic>
        <p:nvPicPr>
          <p:cNvPr id="4" name="Picture 3" descr="E5_reflex_vs_aff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917" y="1417320"/>
            <a:ext cx="5897685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The axis SBI-553 is supposed to move: affective down without a matching reflexive change.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Day 1, what we can 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real data, six mice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The assay separates stimulus intensities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2140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light touch smallest, heat largest, for all six behaviours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700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Reflexive and affective responses have different time courses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40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locked to contact vs building over 1-8 s - so different windows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0273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Escape / rearing is exploration, not pain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8678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3.8 per min at baseline and it falls under stimulation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35424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Block position is not a confound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91947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the randomisation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6811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Between-animal spread is the limiting factor, not scoring noise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8521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median CV 0.49 across mice - which is why Day 2 must be paired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C0483B"/>
                </a:solidFill>
                <a:latin typeface="Calibri"/>
              </a:rPr>
              <a:t>Day 2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0483B"/>
                </a:solidFill>
                <a:latin typeface="Calibri"/>
              </a:rPr>
              <a:t>EVERY NUMBER IN THIS SECTION IS SYNTHETIC.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C0483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C0483B"/>
                </a:solidFill>
                <a:latin typeface="Calibri"/>
              </a:rPr>
              <a:t>The figures below were generated from a fake Day 2 with a known 40 % affective reduction injected, escape left unchanged, and one deliberate non-responder. They exist to settle the layout and the statistics in advance - and, as it turns out, to show that n = 6 is fragile.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Primary figure: total event number / total stimulus delivery, both days</a:t>
            </a:r>
          </a:p>
        </p:txBody>
      </p:sp>
      <p:pic>
        <p:nvPicPr>
          <p:cNvPr id="3" name="Picture 2" descr="D2_per_delivery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569" y="1051560"/>
            <a:ext cx="1016238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MOCKUP - the Day 2 numbers are synthetic. This slide shows the layout and the statistics, not a result.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Individual level: each mouse's own change</a:t>
            </a:r>
          </a:p>
        </p:txBody>
      </p:sp>
      <p:pic>
        <p:nvPicPr>
          <p:cNvPr id="3" name="Picture 2" descr="D5_per_mouse_change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35925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MOCKUP - the Day 2 numbers are synthetic. This slide shows the layout and the statistics, not a result.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Individual level with statistics</a:t>
            </a:r>
          </a:p>
        </p:txBody>
      </p:sp>
      <p:pic>
        <p:nvPicPr>
          <p:cNvPr id="3" name="Picture 2" descr="Fig_forest_per_mouse_allDeliveries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32182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MOCKUP - the Day 2 numbers are synthetic. This slide shows the layout and the statistics, not a result.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Does the drug change the response shape?</a:t>
            </a:r>
          </a:p>
        </p:txBody>
      </p:sp>
      <p:pic>
        <p:nvPicPr>
          <p:cNvPr id="3" name="Picture 2" descr="D1_psth_day_compare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82" y="1051560"/>
            <a:ext cx="11133154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MOCKUP - the Day 2 numbers are synthetic. This slide shows the layout and the statistics, not a result.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Does the drug change the within-block fade?</a:t>
            </a:r>
          </a:p>
        </p:txBody>
      </p:sp>
      <p:pic>
        <p:nvPicPr>
          <p:cNvPr id="3" name="Picture 2" descr="D3_within_block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262" y="1051560"/>
            <a:ext cx="11060994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MOCKUP - the Day 2 numbers are synthetic. This slide shows the layout and the statistics, not a result.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The dissociation the drug is meant to produce</a:t>
            </a:r>
          </a:p>
        </p:txBody>
      </p:sp>
      <p:pic>
        <p:nvPicPr>
          <p:cNvPr id="3" name="Picture 2" descr="D4_reflex_vs_affective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290" y="1051560"/>
            <a:ext cx="6218938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MOCKUP - the Day 2 numbers are synthetic. This slide shows the layout and the statistics, not a result.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F2937"/>
                </a:solidFill>
                <a:latin typeface="Calibri"/>
              </a:rPr>
              <a:t>What the mockup revealed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C6E8C"/>
                </a:solidFill>
                <a:latin typeface="Calibri"/>
              </a:rPr>
              <a:t>this part is NOT synthetic - it comes from the Day 1 variability and from the arithmetic of the test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n = 6 may not be enough</a:t>
            </a:r>
          </a:p>
        </p:txBody>
      </p:sp>
      <p:pic>
        <p:nvPicPr>
          <p:cNvPr id="3" name="Picture 2" descr="D7_power_planning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42286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Left: with one non-responder, power for a 40 % effect at n = 6 falls from 0.98 to about 0.49. Right: the exact paired test floors at 2/2^n, so at n = 5 usable pairs p &lt; 0.05 is arithmetically impossible.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Two levels of statistics, and what each can deliver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the population test is the design; the per-mouse test is what rescues it at n =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06423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047"/>
                <a:gridCol w="1451047"/>
                <a:gridCol w="1813809"/>
                <a:gridCol w="2357952"/>
                <a:gridCol w="3990381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what limits it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the mouse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paired Wilcoxon (primary)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floors at p = 0.031; one non-responder raises it to 0.062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the mouse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6 vs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Mann-Whitney (secondary)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reaches 0.0022, but ignores the pairing the design bought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Individual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one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~90 per mouse per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Fisher exact / rate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well powered for reflexes, detects only large shifts for affective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the mouse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how many moved the same 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not a p-value, but survives the floor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Decisions needed before Day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open questions, not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Animal number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2140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n = 6 gives ~0.49 power for a 40 % effect if one animal does not respond. n = 8-10 is robust.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700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Keep the delivery count as even as possible between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40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normalisation handles unequal counts, but it cannot recover power that was never there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0273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Add a TTL or LED marker on the applicator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8678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solves stimulus timing, identity and camera sync at once, and removes the scorer from the delivery mark entirely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35424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Decide now: second baseline block at session end?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91947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it would separate drug effect from time-in-session drift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6811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Pick the primary outcome before Day 2 is scored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8521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one behaviour, one stimulus, one measure - everything else is then explicitly secondary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