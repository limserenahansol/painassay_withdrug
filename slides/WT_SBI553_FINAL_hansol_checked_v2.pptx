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0" r:id="rId7"/>
    <p:sldId id="283" r:id="rId8"/>
    <p:sldId id="258" r:id="rId9"/>
    <p:sldId id="259" r:id="rId10"/>
    <p:sldId id="261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0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69017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dirty="0">
                <a:solidFill>
                  <a:srgbClr val="1F2937"/>
                </a:solidFill>
                <a:latin typeface="Calibri"/>
              </a:rPr>
              <a:t>Acute pain assay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Hansol Lim   ·   2026-09-03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7167F8-025A-F116-3302-A627492F6B19}"/>
              </a:ext>
            </a:extLst>
          </p:cNvPr>
          <p:cNvSpPr txBox="1"/>
          <p:nvPr/>
        </p:nvSpPr>
        <p:spPr>
          <a:xfrm>
            <a:off x="822960" y="2377440"/>
            <a:ext cx="105156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600" b="1" dirty="0">
                <a:solidFill>
                  <a:srgbClr val="1F2937"/>
                </a:solidFill>
                <a:latin typeface="Calibri"/>
              </a:rPr>
              <a:t>Day 1 Vehicle</a:t>
            </a:r>
          </a:p>
          <a:p>
            <a:pPr algn="l">
              <a:spcAft>
                <a:spcPts val="600"/>
              </a:spcAft>
            </a:pPr>
            <a:r>
              <a:rPr sz="3600" b="1" dirty="0">
                <a:solidFill>
                  <a:srgbClr val="1F2937"/>
                </a:solidFill>
                <a:latin typeface="Calibri"/>
              </a:rPr>
              <a:t>Day 2   SBI-553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3B766D-DFD0-ADEF-8424-5F6CA8FC52FC}"/>
              </a:ext>
            </a:extLst>
          </p:cNvPr>
          <p:cNvSpPr txBox="1"/>
          <p:nvPr/>
        </p:nvSpPr>
        <p:spPr>
          <a:xfrm>
            <a:off x="822960" y="356616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dirty="0">
                <a:solidFill>
                  <a:srgbClr val="1C6E8C"/>
                </a:solidFill>
                <a:latin typeface="Calibri"/>
              </a:rPr>
              <a:t>same six mice.  SBI-553 given 10 min before the Day 2 assay.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3716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7"/>
                </a:solidFill>
                <a:latin typeface="Calibri"/>
              </a:rPr>
              <a:t>The drug reduced everything, not just pain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607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dirty="0">
                <a:solidFill>
                  <a:srgbClr val="C0483B"/>
                </a:solidFill>
                <a:latin typeface="Calibri"/>
              </a:rPr>
              <a:t>Every </a:t>
            </a:r>
            <a:r>
              <a:rPr sz="2200" b="1" dirty="0" err="1">
                <a:solidFill>
                  <a:srgbClr val="C0483B"/>
                </a:solidFill>
                <a:latin typeface="Calibri"/>
              </a:rPr>
              <a:t>behaviour</a:t>
            </a:r>
            <a:r>
              <a:rPr sz="2200" b="1" dirty="0">
                <a:solidFill>
                  <a:srgbClr val="C0483B"/>
                </a:solidFill>
                <a:latin typeface="Calibri"/>
              </a:rPr>
              <a:t> fell after SBI-553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60704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F2937"/>
                </a:solidFill>
                <a:latin typeface="Calibri"/>
              </a:rPr>
              <a:t>Escape / rearing  fell to 22 % of Day 1 — as far as licking/biting (20 %), the joint largest drop. Reflexes fell least</a:t>
            </a:r>
            <a:r>
              <a:rPr lang="en-US" sz="1800" b="0" dirty="0">
                <a:solidFill>
                  <a:srgbClr val="1F2937"/>
                </a:solidFill>
                <a:latin typeface="Calibri"/>
              </a:rPr>
              <a:t/>
            </a:r>
            <a:r>
              <a:rPr sz="1800" b="0" dirty="0">
                <a:solidFill>
                  <a:srgbClr val="1F2937"/>
                </a:solidFill>
                <a:latin typeface="Calibri"/>
              </a:rPr>
              <a:t/>
            </a:r>
            <a:r>
              <a:rPr lang="en-US" sz="1800" b="0" dirty="0">
                <a:solidFill>
                  <a:srgbClr val="1F2937"/>
                </a:solidFill>
                <a:latin typeface="Calibri"/>
              </a:rPr>
              <a:t/>
            </a:r>
            <a:r>
              <a:rPr sz="1800" b="0" dirty="0">
                <a:solidFill>
                  <a:srgbClr val="1F2937"/>
                </a:solidFill>
                <a:latin typeface="Calibri"/>
              </a:rPr>
              <a:t/>
            </a:r>
            <a:r>
              <a:rPr sz="1800" b="0" dirty="0" err="1">
                <a:solidFill>
                  <a:srgbClr val="1F2937"/>
                </a:solidFill>
                <a:latin typeface="Calibri"/>
              </a:rPr>
              <a:t/>
            </a:r>
            <a:r>
              <a:rPr sz="1800" b="0" dirty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F2937"/>
                </a:solidFill>
                <a:latin typeface="Calibri"/>
              </a:rPr>
              <a:t>(withdrawal to 63 %, flinch to 82 %).</a:t>
            </a:r>
          </a:p>
          <a:p>
            <a:pPr algn="l">
              <a:spcAft>
                <a:spcPts val="600"/>
              </a:spcAft>
            </a:pPr>
            <a:endParaRPr sz="1800" b="0" dirty="0">
              <a:solidFill>
                <a:srgbClr val="1F2937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F2937"/>
                </a:solidFill>
                <a:latin typeface="Calibri"/>
              </a:rPr>
              <a:t>That pattern is what sedation looks like, not selective analgesia. Vehicle was given on Day 1 and SBI-553 on Day 2, so the injection is controlled but the fixed order is not.</a:t>
            </a:r>
            <a:r>
              <a:rPr lang="en-US" sz="1800" b="0" dirty="0">
                <a:solidFill>
                  <a:srgbClr val="1F2937"/>
                </a:solidFill>
                <a:latin typeface="Calibri"/>
              </a:rPr>
              <a:t/>
            </a:r>
            <a:r>
              <a:rPr sz="1800" b="0" dirty="0">
                <a:solidFill>
                  <a:srgbClr val="1F2937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How one session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5 min baseline, then four 5 min stimulus blocks on a fixed clock, 1 min rest between</a:t>
            </a:r>
          </a:p>
        </p:txBody>
      </p:sp>
      <p:pic>
        <p:nvPicPr>
          <p:cNvPr id="4" name="Picture 3" descr="F1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38560" cy="28397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Block order is randomised per mouse, so stimulus identity is not confounded with time in the session.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What we score, and why we keep two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Corder / Scherrer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REFLEXIVE   paw withdrawal, flinch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AFFECTIVE-MOTIVATIONAL   paw attending, licking / biting, guarding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0273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dirty="0">
                <a:solidFill>
                  <a:srgbClr val="1F2937"/>
                </a:solidFill>
                <a:latin typeface="Calibri"/>
              </a:rPr>
              <a:t>ESCAPE / REARING   scored, but read as exploration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dirty="0">
                <a:solidFill>
                  <a:srgbClr val="1F2937"/>
                </a:solidFill>
                <a:latin typeface="Calibri"/>
              </a:rPr>
              <a:t>What one scored session looks like</a:t>
            </a:r>
            <a:r>
              <a:rPr lang="en-US" sz="2800" b="1" dirty="0">
                <a:solidFill>
                  <a:srgbClr val="1F2937"/>
                </a:solidFill>
                <a:latin typeface="Calibri"/>
              </a:rPr>
              <a:t/>
            </a:r>
            <a:r>
              <a:rPr sz="2800" b="1" dirty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30 s, both cameras, labels burned in</a:t>
            </a:r>
          </a:p>
        </p:txBody>
      </p:sp>
      <p:pic>
        <p:nvPicPr>
          <p:cNvPr id="4" name="PPT_female3bottom0003_26_09_02_13_03_46_008__ppt_1216s_30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69386" y="1508760"/>
            <a:ext cx="8117176" cy="4917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014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dirty="0"/>
              <a:t>Every mouse, every behaviour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Escape/rearing fell in all 6 mice, the only behaviour significant in every one. Licking/biting, attending and withdrawal also fell in 6/6. Reflexes fell least. One mouse (F1) increased guarding 9-fold.</a:t>
            </a:r>
            <a:endParaRPr sz="1600" b="1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0060" y="5896319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dirty="0">
                <a:solidFill>
                  <a:srgbClr val="555D66"/>
                </a:solidFill>
                <a:latin typeface="Calibri"/>
              </a:rPr>
              <a:t>METHOD   One dot per mouse, line = 95 % CI. Exact Poisson rate test on that animal's own counts (57–100 stimuli each). Events counted inside the four stimulus blocks. *** p&lt;0.001  ** p&lt;0.01  * p&lt;0.05.  Stars uncorrected: 25 of 36 reach p&lt;0.05, 22 survive Benjamini-Hochberg.</a:t>
            </a:r>
          </a:p>
        </p:txBody>
      </p:sp>
      <p:pic>
        <p:nvPicPr>
          <p:cNvPr id="4" name="Picture 3" descr="Fig_forest_per_mouse_allDeliv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55648"/>
            <a:ext cx="11201400" cy="27276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C940DA-F8D1-A38D-A6B0-761A463520CE}"/>
              </a:ext>
            </a:extLst>
          </p:cNvPr>
          <p:cNvSpPr txBox="1"/>
          <p:nvPr/>
        </p:nvSpPr>
        <p:spPr>
          <a:xfrm>
            <a:off x="822960" y="4531956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6B7280"/>
                </a:solidFill>
                <a:latin typeface="Calibri"/>
              </a:rPr>
              <a:t>change index  =  (total events ÷ total stimuli) on Day 2   ÷   the same on Day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3E21E3-A027-B433-65DE-0899BF71EB87}"/>
              </a:ext>
            </a:extLst>
          </p:cNvPr>
          <p:cNvSpPr txBox="1"/>
          <p:nvPr/>
        </p:nvSpPr>
        <p:spPr>
          <a:xfrm>
            <a:off x="502920" y="5724144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dirty="0">
                <a:solidFill>
                  <a:srgbClr val="1C6E8C"/>
                </a:solidFill>
                <a:latin typeface="Calibri"/>
              </a:rPr>
              <a:t>Medians: licking/biting ×0.20 and escape/rearing ×0.22 fell most; withdrawal ×0.63 and flinch ×0.82 least. Escape/rearing is exploration, not pain — a selective analgesic should have spared it.</a:t>
            </a:r>
          </a:p>
          <a:p>
            <a:pPr algn="l">
              <a:spcAft>
                <a:spcPts val="300"/>
              </a:spcAft>
            </a:pPr>
            <a:r>
              <a:rPr sz="1250" b="0" dirty="0">
                <a:solidFill>
                  <a:srgbClr val="1C6E8C"/>
                </a:solidFill>
                <a:latin typeface="Calibri"/>
              </a:rPr>
              <a:t>Paw withdrawal sits near the line only because the axis is logarithmic: ×0.63 is a 37 % fall, in all six mice, p = 0.031.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11F01-C6D5-1251-63EF-ACF9E7A74E71}"/>
              </a:ext>
            </a:extLst>
          </p:cNvPr>
          <p:cNvSpPr txBox="1"/>
          <p:nvPr/>
        </p:nvSpPr>
        <p:spPr>
          <a:xfrm>
            <a:off x="2560320" y="1161202"/>
            <a:ext cx="112014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 dirty="0">
                <a:solidFill>
                  <a:srgbClr val="C0483B"/>
                </a:solidFill>
                <a:latin typeface="Calibri"/>
              </a:rPr>
              <a:t>Exploration fell as much as pain</a:t>
            </a:r>
            <a:r>
              <a:rPr sz="2500" b="1" dirty="0" err="1">
                <a:solidFill>
                  <a:srgbClr val="C0483B"/>
                </a:solidFill>
                <a:latin typeface="Calibri"/>
              </a:rPr>
              <a:t/>
            </a:r>
            <a:r>
              <a:rPr sz="2500" b="1" dirty="0">
                <a:solidFill>
                  <a:srgbClr val="C0483B"/>
                </a:solidFill>
                <a:latin typeface="Calibri"/>
              </a:rPr>
              <a:t/>
            </a:r>
          </a:p>
        </p:txBody>
      </p:sp>
      <p:pic>
        <p:nvPicPr>
          <p:cNvPr id="9" name="Picture 8" descr="S1_sedation_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792" y="1894061"/>
            <a:ext cx="5968891" cy="34055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2937"/>
                </a:solidFill>
                <a:latin typeface="Calibri"/>
              </a:rPr>
              <a:t>Lower on the drug day, every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dirty="0">
                <a:solidFill>
                  <a:srgbClr val="555D66"/>
                </a:solidFill>
                <a:latin typeface="Calibri"/>
              </a:rPr>
              <a:t>METHOD   Events per stimulus delivery against stimulus type. Thin line = one mouse, bold = mean ± SEM over six mice. Both days on shared axes so the size of the drop is comparable. No statistical test on this panel — it is descriptive.</a:t>
            </a:r>
          </a:p>
        </p:txBody>
      </p:sp>
      <p:pic>
        <p:nvPicPr>
          <p:cNvPr id="4" name="Picture 3" descr="D8_dose_response_both_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567" y="1755648"/>
            <a:ext cx="7894104" cy="3858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Day 1 rises from light touch to heat in every behaviour. On Day 2 that ordering is flattened for licking/biting and escape/rearing but kept for the reflexes, whose curve simply sits lower.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1339" y="397876"/>
            <a:ext cx="112014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 dirty="0">
                <a:solidFill>
                  <a:srgbClr val="1F2937"/>
                </a:solidFill>
                <a:latin typeface="Calibri"/>
              </a:rPr>
              <a:t>Same mouse, both days</a:t>
            </a:r>
            <a:r>
              <a:rPr lang="en-US" sz="2500" b="1" dirty="0">
                <a:solidFill>
                  <a:srgbClr val="1F2937"/>
                </a:solidFill>
                <a:latin typeface="Calibri"/>
              </a:rPr>
              <a:t/>
            </a:r>
            <a:endParaRPr sz="2500" b="1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6"/>
                </a:solidFill>
                <a:latin typeface="Calibri"/>
              </a:rPr>
              <a:t>METHOD   Same measure, paired within animal. Grey line joins the two days for one mouse; square = mean ± SEM. Paired Wilcoxon per behaviour × stimulus (exact, n = 6, floor p = 0.031). * p &lt; 0.05, ns = not significant.</a:t>
            </a:r>
          </a:p>
        </p:txBody>
      </p:sp>
      <p:pic>
        <p:nvPicPr>
          <p:cNvPr id="4" name="Picture 3" descr="D2_per_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885" y="1645920"/>
            <a:ext cx="8080230" cy="3858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dirty="0">
                <a:solidFill>
                  <a:srgbClr val="1C6E8C"/>
                </a:solidFill>
                <a:latin typeface="Calibri"/>
              </a:rPr>
              <a:t>Escape/rearing is significant at all four stimuli, withdrawal at three of four. With six mice the test cannot go below p = 0.031, so a blank cell means underpowered, not unchanged.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1E0B5A-5383-EBEB-D093-30F9F56E723A}"/>
              </a:ext>
            </a:extLst>
          </p:cNvPr>
          <p:cNvSpPr/>
          <p:nvPr/>
        </p:nvSpPr>
        <p:spPr>
          <a:xfrm>
            <a:off x="2558142" y="2133600"/>
            <a:ext cx="1567543" cy="1393371"/>
          </a:xfrm>
          <a:prstGeom prst="rect">
            <a:avLst/>
          </a:prstGeom>
          <a:solidFill>
            <a:srgbClr val="FFFF00">
              <a:alpha val="15000"/>
            </a:srgbClr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7CBC1C-2AC1-53DB-9488-2AC0D1B2FB35}"/>
              </a:ext>
            </a:extLst>
          </p:cNvPr>
          <p:cNvSpPr/>
          <p:nvPr/>
        </p:nvSpPr>
        <p:spPr>
          <a:xfrm>
            <a:off x="5061857" y="2133600"/>
            <a:ext cx="511629" cy="1393371"/>
          </a:xfrm>
          <a:prstGeom prst="rect">
            <a:avLst/>
          </a:prstGeom>
          <a:solidFill>
            <a:srgbClr val="FFFF00">
              <a:alpha val="15000"/>
            </a:srgbClr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AA3021-9AE2-81D8-4D3F-538186BF014B}"/>
              </a:ext>
            </a:extLst>
          </p:cNvPr>
          <p:cNvSpPr/>
          <p:nvPr/>
        </p:nvSpPr>
        <p:spPr>
          <a:xfrm>
            <a:off x="3733800" y="3819144"/>
            <a:ext cx="511629" cy="1393371"/>
          </a:xfrm>
          <a:prstGeom prst="rect">
            <a:avLst/>
          </a:prstGeom>
          <a:solidFill>
            <a:srgbClr val="FFFF00">
              <a:alpha val="15000"/>
            </a:srgbClr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F60D03-A25E-6FD2-1F4C-74AD83511ABD}"/>
              </a:ext>
            </a:extLst>
          </p:cNvPr>
          <p:cNvSpPr/>
          <p:nvPr/>
        </p:nvSpPr>
        <p:spPr>
          <a:xfrm>
            <a:off x="7690758" y="3897086"/>
            <a:ext cx="2324099" cy="1393371"/>
          </a:xfrm>
          <a:prstGeom prst="rect">
            <a:avLst/>
          </a:prstGeom>
          <a:solidFill>
            <a:srgbClr val="FFFF00">
              <a:alpha val="15000"/>
            </a:srgbClr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01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dirty="0"/>
              <a:t>Affective and reflexive pain fell together</a:t>
            </a:r>
            <a:endParaRPr sz="2500" b="1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6"/>
                </a:solidFill>
                <a:latin typeface="Calibri"/>
              </a:rPr>
              <a:t>METHOD   Affective (attending + licking/biting + guarding) against reflexive (withdrawal + flinch), both as events per stimulus delivery. One arrow per mouse, Day 1 to Day 2. Descriptive — no test on this panel.</a:t>
            </a:r>
          </a:p>
        </p:txBody>
      </p:sp>
      <p:pic>
        <p:nvPicPr>
          <p:cNvPr id="4" name="Picture 3" descr="D4_reflex_vs_aff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002" y="1755648"/>
            <a:ext cx="4625235" cy="3858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dirty="0">
                <a:solidFill>
                  <a:srgbClr val="1C6E8C"/>
                </a:solidFill>
                <a:latin typeface="Calibri"/>
              </a:rPr>
              <a:t>A selective affective effect would move every arrow straight DOWN. Most move down AND left, so both classes fell together — a general reduction in activity.</a:t>
            </a:r>
            <a:r>
              <a:rPr lang="en-US" sz="1250" b="0" dirty="0">
                <a:solidFill>
                  <a:srgbClr val="1C6E8C"/>
                </a:solidFill>
                <a:latin typeface="Calibri"/>
              </a:rPr>
              <a:t/>
            </a:r>
            <a:r>
              <a:rPr sz="1250" b="0" dirty="0">
                <a:solidFill>
                  <a:srgbClr val="1C6E8C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Already slower before any stimulus</a:t>
            </a:r>
          </a:p>
        </p:txBody>
      </p:sp>
      <p:pic>
        <p:nvPicPr>
          <p:cNvPr id="3" name="Picture 2" descr="V1_loco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41330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No stimulus is delivered during the baseline, so there is no pain to relieve. Movement was already halved there in 6/6 mice (p = 0.031). That cannot be analgesia.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800</Words>
  <Application>Microsoft Office PowerPoint</Application>
  <PresentationFormat>Widescreen</PresentationFormat>
  <Paragraphs>39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hansol lim</cp:lastModifiedBy>
  <cp:revision>4</cp:revision>
  <dcterms:created xsi:type="dcterms:W3CDTF">2013-01-27T09:14:16Z</dcterms:created>
  <dcterms:modified xsi:type="dcterms:W3CDTF">2026-09-04T02:11:49Z</dcterms:modified>
  <cp:category/>
</cp:coreProperties>
</file>