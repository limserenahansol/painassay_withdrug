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2937"/>
                </a:solidFill>
                <a:latin typeface="Calibri"/>
              </a:rPr>
              <a:t>SBI-553 on the acute pain assay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0483B"/>
                </a:solidFill>
                <a:latin typeface="Calibri"/>
              </a:rPr>
              <a:t>A general reduction in behaviour, not selective analgesia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C6E8C"/>
                </a:solidFill>
                <a:latin typeface="Calibri"/>
              </a:rPr>
              <a:t>Escape / rearing is exploration, not pain — and it was the ONLY behaviour significantly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C6E8C"/>
                </a:solidFill>
                <a:latin typeface="Calibri"/>
              </a:rPr>
              <a:t>reduced in all six mice. The reflexes fell least. A selective analgesic predicts the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C6E8C"/>
                </a:solidFill>
                <a:latin typeface="Calibri"/>
              </a:rPr>
              <a:t>opposite ordering.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Day 1 no drug vs Day 2 SBI-553, same six mice, dosed 10 min before the assay.  No vehicle group.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change index  =  (total events ÷ total stimuli) on Day 2   ÷   the same on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Hansol Lim   ·   2026-09-03   ·   every number recomputed from the scoring files and cross-checked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C0483B"/>
                </a:solidFill>
                <a:latin typeface="Calibri"/>
              </a:rPr>
              <a:t>Every behaviour fell — including escape/rearing, which is not a pain measure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Change index per behaviour, one dot per mouse, bar = MEDIAN of the six per-mouse indices. Every event in the stimulus block counted, each mouse divided by its own stimulus count. Log axis. Paired Wilcoxon over the six mice (exact, n = 6, smallest possible p = 0.031).</a:t>
            </a:r>
          </a:p>
        </p:txBody>
      </p:sp>
      <p:pic>
        <p:nvPicPr>
          <p:cNvPr id="4" name="Picture 3" descr="S1_sedation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2031" y="1755648"/>
            <a:ext cx="6763176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Medians: licking/biting ×0.20 and escape/rearing ×0.22 fell most, paw withdrawal ×0.63 and flinch ×0.82 least (attending ×0.51, guarding ×0.45). Escape/rearing is exploration — Day 1 showed it is high at baseline and DECREASES under stimulation — so a selective analgesic should have spared it. It did not.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Paw withdrawal looks close to the line only because the axis is logarithmic: ×0.63 is a 37 % decrease, in all six mice, paired p = 0.031. It is significantly reduced AND the least reduced of the six.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Lower on the drug day for all six behaviours, and flatter for the affective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Events per stimulus delivery against stimulus type. Thin line = one mouse, bold = mean ± SEM over six mice. Both days on shared axes so the size of the drop is comparable. No statistical test on this panel — it is descriptive.</a:t>
            </a:r>
          </a:p>
        </p:txBody>
      </p:sp>
      <p:pic>
        <p:nvPicPr>
          <p:cNvPr id="4" name="Picture 3" descr="D8_dose_response_both_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567" y="1755648"/>
            <a:ext cx="7894104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Day 1 rises from light touch to heat in every behaviour. On Day 2 that ordering is flattened for licking/biting and escape/rearing but kept for the reflexes, whose curve simply sits lower.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Paired mouse by mouse: paw withdrawal and escape/rearing move in every animal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Same measure, paired within animal. Grey line joins the two days for one mouse; square = mean ± SEM. Paired Wilcoxon per behaviour × stimulus (exact, n = 6, floor p = 0.031). * p &lt; 0.05, ns = not significant.</a:t>
            </a:r>
          </a:p>
        </p:txBody>
      </p:sp>
      <p:pic>
        <p:nvPicPr>
          <p:cNvPr id="4" name="Picture 3" descr="D2_per_deli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04" y="1755648"/>
            <a:ext cx="8080230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Escape/rearing is significant at all four stimuli. Paw withdrawal is significant at three of four. Guarding and flinch are not significant per stimulus — with six mice the test cannot go below 0.031, so a non-significant cell here means underpowered, not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Escape/rearing — the behaviour that is NOT pain — is the only one significant in all six mice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Change index per mouse, dot = the index, line = 95 % CI from the Poisson variance of the totals. EXACT POISSON RATE TEST on that animal's own counts: conditional on the n₁+n₂ events in total, the number landing on Day 2 is Binomial(n₁+n₂, t₂/(t₁+t₂)) if the two rates are equal; the two-sided binomial p is exact. Stars are uncorrected — 25 of 36 tests reach p&lt;0.05, 22 survive Benjamini-Hochberg.</a:t>
            </a:r>
          </a:p>
        </p:txBody>
      </p:sp>
      <p:pic>
        <p:nvPicPr>
          <p:cNvPr id="4" name="Picture 3" descr="Fig_forest_per_mouse_allDeliv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5648"/>
            <a:ext cx="11201400" cy="27276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Decreased in / significantly decreased in:  escape 6/6 and 6/6  ·  withdrawal 6/6 and 5  ·  lick-bite 6/6 and 4  ·  attending 6/6 and 3  ·  guarding 5/6 and 3  ·  flinch 3/6 and 3 (the other three went UP). Guarding has one animal moving the other way: F1 rose nine-fold (2/87 → 12/58, p = 0.0006), so four significant does not mean four decreased.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2937"/>
                </a:solidFill>
                <a:latin typeface="Calibri"/>
              </a:rPr>
              <a:t>The affective/reflexive dissociation a biased agonist predicts is not what happened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55D66"/>
                </a:solidFill>
                <a:latin typeface="Calibri"/>
              </a:rPr>
              <a:t>METHOD   Affective (attending + licking/biting + guarding) against reflexive (withdrawal + flinch), both as events per stimulus delivery. One arrow per mouse, Day 1 to Day 2. Descriptive — no test on this panel.</a:t>
            </a:r>
          </a:p>
        </p:txBody>
      </p:sp>
      <p:pic>
        <p:nvPicPr>
          <p:cNvPr id="4" name="Picture 3" descr="D4_reflex_vs_aff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002" y="1755648"/>
            <a:ext cx="4625235" cy="3858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724144"/>
            <a:ext cx="11201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C6E8C"/>
                </a:solidFill>
                <a:latin typeface="Calibri"/>
              </a:rPr>
              <a:t>A selective affective effect would move every arrow straight DOWN. F2, F3 and M3 do move mostly down; M1 and M2 move down AND left; F1 moves left and slightly up. Combined with escape/rearing falling hardest, the pattern is a general reduction in activity rather than a clean affective-only effect.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0483B"/>
                </a:solidFill>
                <a:latin typeface="Calibri"/>
              </a:rPr>
              <a:t>What these five figures do NOT establish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1.  That the change is caused by SBI-553.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All six mice received it. With no vehicle group, drug, day, block order and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habituation cannot be separated.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2.  That it is analgesia.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Escape/rearing is not a pain measure and fell hardest. Movement measured from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the video was already halved during the 5 min baseline, before any stimulus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(×0.47, 6/6 mice, p = 0.031) — there is no pain to relieve there.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3.  That analgesia is absent.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A general reduction in activity could hide it. A lower dose or a later time point,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with a vehicle arm, would separate the two.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4.  Anything about the face.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The side view is a backlit silhouette: ears are visible as outlines, the eye is not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resolved, so the Mouse Grimace Scale cannot be scored. And grimace cannot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     distinguish pain from sedation in any case — both produce orbital tightening.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